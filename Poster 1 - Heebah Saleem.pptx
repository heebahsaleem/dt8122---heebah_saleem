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6D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D1958F-EB84-4A6D-851A-5609D3F999BB}" v="4" dt="2026-09-24T11:55:17.5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50" d="100"/>
          <a:sy n="150" d="100"/>
        </p:scale>
        <p:origin x="159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ebah Saleem" userId="fdd7724e-b6e2-4f59-8d38-a4f0f4e74fd2" providerId="ADAL" clId="{857BC955-FDA9-4BE9-B0D7-6D75950FAD80}"/>
    <pc:docChg chg="undo custSel modSld">
      <pc:chgData name="Heebah Saleem" userId="fdd7724e-b6e2-4f59-8d38-a4f0f4e74fd2" providerId="ADAL" clId="{857BC955-FDA9-4BE9-B0D7-6D75950FAD80}" dt="2026-09-24T13:03:57.519" v="1207" actId="255"/>
      <pc:docMkLst>
        <pc:docMk/>
      </pc:docMkLst>
      <pc:sldChg chg="addSp delSp modSp mod">
        <pc:chgData name="Heebah Saleem" userId="fdd7724e-b6e2-4f59-8d38-a4f0f4e74fd2" providerId="ADAL" clId="{857BC955-FDA9-4BE9-B0D7-6D75950FAD80}" dt="2026-09-24T13:03:57.519" v="1207" actId="255"/>
        <pc:sldMkLst>
          <pc:docMk/>
          <pc:sldMk cId="2326468549" sldId="256"/>
        </pc:sldMkLst>
        <pc:spChg chg="add mod">
          <ac:chgData name="Heebah Saleem" userId="fdd7724e-b6e2-4f59-8d38-a4f0f4e74fd2" providerId="ADAL" clId="{857BC955-FDA9-4BE9-B0D7-6D75950FAD80}" dt="2026-09-24T11:55:51.251" v="1101" actId="14100"/>
          <ac:spMkLst>
            <pc:docMk/>
            <pc:sldMk cId="2326468549" sldId="256"/>
            <ac:spMk id="3" creationId="{10D0B041-B4EB-DBDC-5F7D-4C1EE22D84A6}"/>
          </ac:spMkLst>
        </pc:spChg>
        <pc:spChg chg="mod">
          <ac:chgData name="Heebah Saleem" userId="fdd7724e-b6e2-4f59-8d38-a4f0f4e74fd2" providerId="ADAL" clId="{857BC955-FDA9-4BE9-B0D7-6D75950FAD80}" dt="2026-09-24T13:03:57.519" v="1207" actId="255"/>
          <ac:spMkLst>
            <pc:docMk/>
            <pc:sldMk cId="2326468549" sldId="256"/>
            <ac:spMk id="4" creationId="{026E67BC-3D12-D8CA-75EE-6337D25FEA2F}"/>
          </ac:spMkLst>
        </pc:spChg>
        <pc:spChg chg="add mod">
          <ac:chgData name="Heebah Saleem" userId="fdd7724e-b6e2-4f59-8d38-a4f0f4e74fd2" providerId="ADAL" clId="{857BC955-FDA9-4BE9-B0D7-6D75950FAD80}" dt="2026-09-24T11:49:01.950" v="109" actId="571"/>
          <ac:spMkLst>
            <pc:docMk/>
            <pc:sldMk cId="2326468549" sldId="256"/>
            <ac:spMk id="5" creationId="{7252DC30-5A73-F1AA-D4B5-9DABBEFCEAF0}"/>
          </ac:spMkLst>
        </pc:spChg>
        <pc:spChg chg="add mod">
          <ac:chgData name="Heebah Saleem" userId="fdd7724e-b6e2-4f59-8d38-a4f0f4e74fd2" providerId="ADAL" clId="{857BC955-FDA9-4BE9-B0D7-6D75950FAD80}" dt="2026-09-24T11:55:26.616" v="1070" actId="1038"/>
          <ac:spMkLst>
            <pc:docMk/>
            <pc:sldMk cId="2326468549" sldId="256"/>
            <ac:spMk id="9" creationId="{8C7AF0AD-6BC2-BCCA-88C2-D66EF2C19411}"/>
          </ac:spMkLst>
        </pc:spChg>
        <pc:spChg chg="add del mod">
          <ac:chgData name="Heebah Saleem" userId="fdd7724e-b6e2-4f59-8d38-a4f0f4e74fd2" providerId="ADAL" clId="{857BC955-FDA9-4BE9-B0D7-6D75950FAD80}" dt="2026-09-24T13:03:45.404" v="1204" actId="478"/>
          <ac:spMkLst>
            <pc:docMk/>
            <pc:sldMk cId="2326468549" sldId="256"/>
            <ac:spMk id="13" creationId="{D7606695-732E-3BC1-AF0D-CA37F64EFF14}"/>
          </ac:spMkLst>
        </pc:spChg>
        <pc:spChg chg="mod">
          <ac:chgData name="Heebah Saleem" userId="fdd7724e-b6e2-4f59-8d38-a4f0f4e74fd2" providerId="ADAL" clId="{857BC955-FDA9-4BE9-B0D7-6D75950FAD80}" dt="2026-09-24T11:45:33.065" v="0" actId="120"/>
          <ac:spMkLst>
            <pc:docMk/>
            <pc:sldMk cId="2326468549" sldId="256"/>
            <ac:spMk id="24" creationId="{44E0F027-6268-18F0-E8D6-6A9CE87D6D0D}"/>
          </ac:spMkLst>
        </pc:spChg>
        <pc:spChg chg="mod">
          <ac:chgData name="Heebah Saleem" userId="fdd7724e-b6e2-4f59-8d38-a4f0f4e74fd2" providerId="ADAL" clId="{857BC955-FDA9-4BE9-B0D7-6D75950FAD80}" dt="2026-09-24T11:51:45.194" v="470" actId="1076"/>
          <ac:spMkLst>
            <pc:docMk/>
            <pc:sldMk cId="2326468549" sldId="256"/>
            <ac:spMk id="30" creationId="{F07FE42A-09D4-4ACF-6F64-1B88FC020B4D}"/>
          </ac:spMkLst>
        </pc:spChg>
        <pc:spChg chg="mod">
          <ac:chgData name="Heebah Saleem" userId="fdd7724e-b6e2-4f59-8d38-a4f0f4e74fd2" providerId="ADAL" clId="{857BC955-FDA9-4BE9-B0D7-6D75950FAD80}" dt="2026-09-24T11:46:03.723" v="53" actId="20577"/>
          <ac:spMkLst>
            <pc:docMk/>
            <pc:sldMk cId="2326468549" sldId="256"/>
            <ac:spMk id="32" creationId="{B2AE7ACD-09C9-E0B7-8BD9-9FA2E4D7E5CE}"/>
          </ac:spMkLst>
        </pc:spChg>
        <pc:spChg chg="mod">
          <ac:chgData name="Heebah Saleem" userId="fdd7724e-b6e2-4f59-8d38-a4f0f4e74fd2" providerId="ADAL" clId="{857BC955-FDA9-4BE9-B0D7-6D75950FAD80}" dt="2026-09-24T11:58:46.160" v="1186" actId="20577"/>
          <ac:spMkLst>
            <pc:docMk/>
            <pc:sldMk cId="2326468549" sldId="256"/>
            <ac:spMk id="42" creationId="{69CCBB0B-E088-7C2D-69A7-25008476608C}"/>
          </ac:spMkLst>
        </pc:spChg>
        <pc:spChg chg="mod">
          <ac:chgData name="Heebah Saleem" userId="fdd7724e-b6e2-4f59-8d38-a4f0f4e74fd2" providerId="ADAL" clId="{857BC955-FDA9-4BE9-B0D7-6D75950FAD80}" dt="2026-09-24T11:55:41.335" v="1099" actId="1035"/>
          <ac:spMkLst>
            <pc:docMk/>
            <pc:sldMk cId="2326468549" sldId="256"/>
            <ac:spMk id="97" creationId="{260CDEDF-6AE4-C299-EFD2-00828C3B2EC8}"/>
          </ac:spMkLst>
        </pc:spChg>
        <pc:spChg chg="mod">
          <ac:chgData name="Heebah Saleem" userId="fdd7724e-b6e2-4f59-8d38-a4f0f4e74fd2" providerId="ADAL" clId="{857BC955-FDA9-4BE9-B0D7-6D75950FAD80}" dt="2026-09-24T11:59:07.544" v="1203" actId="20577"/>
          <ac:spMkLst>
            <pc:docMk/>
            <pc:sldMk cId="2326468549" sldId="256"/>
            <ac:spMk id="103" creationId="{A70944E7-8C80-8200-A240-EE7C818E23A9}"/>
          </ac:spMkLst>
        </pc:spChg>
        <pc:cxnChg chg="add mod">
          <ac:chgData name="Heebah Saleem" userId="fdd7724e-b6e2-4f59-8d38-a4f0f4e74fd2" providerId="ADAL" clId="{857BC955-FDA9-4BE9-B0D7-6D75950FAD80}" dt="2026-09-24T11:55:15.261" v="1047" actId="208"/>
          <ac:cxnSpMkLst>
            <pc:docMk/>
            <pc:sldMk cId="2326468549" sldId="256"/>
            <ac:cxnSpMk id="11" creationId="{60FE40E9-2F11-799A-C1DD-546D76B42B55}"/>
          </ac:cxnSpMkLst>
        </pc:cxnChg>
        <pc:cxnChg chg="add mod">
          <ac:chgData name="Heebah Saleem" userId="fdd7724e-b6e2-4f59-8d38-a4f0f4e74fd2" providerId="ADAL" clId="{857BC955-FDA9-4BE9-B0D7-6D75950FAD80}" dt="2026-09-24T11:55:32.998" v="1086" actId="1038"/>
          <ac:cxnSpMkLst>
            <pc:docMk/>
            <pc:sldMk cId="2326468549" sldId="256"/>
            <ac:cxnSpMk id="12" creationId="{F6030F51-83B5-54F8-BE6E-110CAB599491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37894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16143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2393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29452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6560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9303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4859163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53987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057334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132807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64224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17A3EB-83F0-4A96-8AD9-61E2E29037CA}" type="datetimeFigureOut">
              <a:rPr lang="nb-NO" smtClean="0"/>
              <a:t>24.09.2026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881E47-0703-428A-BCE0-618016E9EE1D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7058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ounded Rectangle 6">
            <a:extLst>
              <a:ext uri="{FF2B5EF4-FFF2-40B4-BE49-F238E27FC236}">
                <a16:creationId xmlns:a16="http://schemas.microsoft.com/office/drawing/2014/main" id="{33F32BA2-94DC-604F-8276-EE200723F300}"/>
              </a:ext>
            </a:extLst>
          </p:cNvPr>
          <p:cNvSpPr/>
          <p:nvPr/>
        </p:nvSpPr>
        <p:spPr>
          <a:xfrm>
            <a:off x="5076825" y="1117336"/>
            <a:ext cx="1733776" cy="2752989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A6128B7-DDE4-0BB4-3A37-1D70260425F7}"/>
              </a:ext>
            </a:extLst>
          </p:cNvPr>
          <p:cNvSpPr txBox="1"/>
          <p:nvPr/>
        </p:nvSpPr>
        <p:spPr>
          <a:xfrm>
            <a:off x="5081587" y="1657348"/>
            <a:ext cx="1728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Works when likelihood is expensive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Applicable to complex simulators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full posterior distributions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many domains e.g. climate, geology, physics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etc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6E67BC-3D12-D8CA-75EE-6337D25FEA2F}"/>
              </a:ext>
            </a:extLst>
          </p:cNvPr>
          <p:cNvSpPr txBox="1"/>
          <p:nvPr/>
        </p:nvSpPr>
        <p:spPr>
          <a:xfrm>
            <a:off x="0" y="5377"/>
            <a:ext cx="6858000" cy="954107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Simulation-Based Inference (SBI)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Heebah Saleem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Sergey Alyaev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Nello Blaser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Kristian Fossum</a:t>
            </a:r>
            <a:r>
              <a:rPr lang="en-US" sz="105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ctr"/>
            <a:endParaRPr lang="en-US" sz="1050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9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Bergen | </a:t>
            </a:r>
            <a:r>
              <a:rPr lang="en-US" sz="900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NORCE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A505FC96-9B25-9674-EE8B-B04F2A6E88D8}"/>
              </a:ext>
            </a:extLst>
          </p:cNvPr>
          <p:cNvSpPr/>
          <p:nvPr/>
        </p:nvSpPr>
        <p:spPr>
          <a:xfrm>
            <a:off x="50315" y="1088651"/>
            <a:ext cx="2007085" cy="277009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229D99-B163-8ECC-8503-68238EF05E06}"/>
              </a:ext>
            </a:extLst>
          </p:cNvPr>
          <p:cNvSpPr/>
          <p:nvPr/>
        </p:nvSpPr>
        <p:spPr>
          <a:xfrm>
            <a:off x="47625" y="1061757"/>
            <a:ext cx="2024063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Motivation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8EE7153D-C2B9-873C-73C7-5A86B327A1C5}"/>
              </a:ext>
            </a:extLst>
          </p:cNvPr>
          <p:cNvSpPr/>
          <p:nvPr/>
        </p:nvSpPr>
        <p:spPr>
          <a:xfrm>
            <a:off x="2133600" y="1095822"/>
            <a:ext cx="2852738" cy="277009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F881E64-C9A1-BF48-109B-CAEFA5EACF5C}"/>
              </a:ext>
            </a:extLst>
          </p:cNvPr>
          <p:cNvSpPr/>
          <p:nvPr/>
        </p:nvSpPr>
        <p:spPr>
          <a:xfrm>
            <a:off x="2133599" y="1068928"/>
            <a:ext cx="2847975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SBI Setup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07459A4-1E04-472F-A6E8-BC8B22A36CA4}"/>
              </a:ext>
            </a:extLst>
          </p:cNvPr>
          <p:cNvSpPr/>
          <p:nvPr/>
        </p:nvSpPr>
        <p:spPr>
          <a:xfrm>
            <a:off x="5067300" y="1068927"/>
            <a:ext cx="1790700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Why SBI?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F07655A7-303D-A8B2-2E0D-81D75B832CBC}"/>
              </a:ext>
            </a:extLst>
          </p:cNvPr>
          <p:cNvSpPr/>
          <p:nvPr/>
        </p:nvSpPr>
        <p:spPr>
          <a:xfrm>
            <a:off x="66675" y="3930183"/>
            <a:ext cx="6737537" cy="1859281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4E0F027-6268-18F0-E8D6-6A9CE87D6D0D}"/>
              </a:ext>
            </a:extLst>
          </p:cNvPr>
          <p:cNvSpPr/>
          <p:nvPr/>
        </p:nvSpPr>
        <p:spPr>
          <a:xfrm>
            <a:off x="61914" y="3917576"/>
            <a:ext cx="6758434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Amortized Bayesian Inference with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BayesFlow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ounded Rectangle 6">
            <a:extLst>
              <a:ext uri="{FF2B5EF4-FFF2-40B4-BE49-F238E27FC236}">
                <a16:creationId xmlns:a16="http://schemas.microsoft.com/office/drawing/2014/main" id="{F07FE42A-09D4-4ACF-6F64-1B88FC020B4D}"/>
              </a:ext>
            </a:extLst>
          </p:cNvPr>
          <p:cNvSpPr/>
          <p:nvPr/>
        </p:nvSpPr>
        <p:spPr>
          <a:xfrm>
            <a:off x="71438" y="5935195"/>
            <a:ext cx="6723249" cy="2042945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2AE7ACD-09C9-E0B7-8BD9-9FA2E4D7E5CE}"/>
              </a:ext>
            </a:extLst>
          </p:cNvPr>
          <p:cNvSpPr/>
          <p:nvPr/>
        </p:nvSpPr>
        <p:spPr>
          <a:xfrm>
            <a:off x="66675" y="5908301"/>
            <a:ext cx="6744147" cy="408791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Tutorial Components from ProbAI 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BayesFlow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Rounded Rectangle 6">
            <a:extLst>
              <a:ext uri="{FF2B5EF4-FFF2-40B4-BE49-F238E27FC236}">
                <a16:creationId xmlns:a16="http://schemas.microsoft.com/office/drawing/2014/main" id="{8F89CFE0-2EAC-E928-3319-587B2B795823}"/>
              </a:ext>
            </a:extLst>
          </p:cNvPr>
          <p:cNvSpPr/>
          <p:nvPr/>
        </p:nvSpPr>
        <p:spPr>
          <a:xfrm>
            <a:off x="80963" y="8065714"/>
            <a:ext cx="3455987" cy="3427786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87D130C-7D42-1919-1A0B-7F762084A060}"/>
              </a:ext>
            </a:extLst>
          </p:cNvPr>
          <p:cNvSpPr/>
          <p:nvPr/>
        </p:nvSpPr>
        <p:spPr>
          <a:xfrm>
            <a:off x="76200" y="8038820"/>
            <a:ext cx="3479799" cy="565430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Simulation-Based Calibration (SBC) 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ounded Rectangle 6">
            <a:extLst>
              <a:ext uri="{FF2B5EF4-FFF2-40B4-BE49-F238E27FC236}">
                <a16:creationId xmlns:a16="http://schemas.microsoft.com/office/drawing/2014/main" id="{E9AAB9E9-425C-104A-1584-E97185FD85C6}"/>
              </a:ext>
            </a:extLst>
          </p:cNvPr>
          <p:cNvSpPr/>
          <p:nvPr/>
        </p:nvSpPr>
        <p:spPr>
          <a:xfrm>
            <a:off x="3653491" y="8167310"/>
            <a:ext cx="3102909" cy="3332540"/>
          </a:xfrm>
          <a:prstGeom prst="roundRect">
            <a:avLst/>
          </a:prstGeom>
          <a:solidFill>
            <a:srgbClr val="F8FAFC"/>
          </a:solidFill>
          <a:ln>
            <a:solidFill>
              <a:srgbClr val="0A6D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1FB25D9-96E0-6B50-EF46-04AE4A540A78}"/>
              </a:ext>
            </a:extLst>
          </p:cNvPr>
          <p:cNvSpPr/>
          <p:nvPr/>
        </p:nvSpPr>
        <p:spPr>
          <a:xfrm>
            <a:off x="3638550" y="8039100"/>
            <a:ext cx="3124200" cy="595315"/>
          </a:xfrm>
          <a:prstGeom prst="rect">
            <a:avLst/>
          </a:prstGeom>
          <a:solidFill>
            <a:srgbClr val="DDEF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Diffusion Posterior and Guidance</a:t>
            </a:r>
            <a:endParaRPr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CCBB0B-E088-7C2D-69A7-25008476608C}"/>
              </a:ext>
            </a:extLst>
          </p:cNvPr>
          <p:cNvSpPr txBox="1"/>
          <p:nvPr/>
        </p:nvSpPr>
        <p:spPr>
          <a:xfrm>
            <a:off x="5" y="11562526"/>
            <a:ext cx="6858000" cy="630942"/>
          </a:xfrm>
          <a:prstGeom prst="rect">
            <a:avLst/>
          </a:prstGeom>
          <a:solidFill>
            <a:schemeClr val="accent4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en-US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nb-NO" sz="7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heebah.saleem@uib.no | </a:t>
            </a:r>
            <a:r>
              <a:rPr lang="nb-NO" sz="7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Research </a:t>
            </a:r>
            <a:r>
              <a:rPr lang="nb-NO" sz="700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Fellow</a:t>
            </a:r>
            <a:r>
              <a:rPr lang="nb-NO" sz="7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| UiB</a:t>
            </a:r>
          </a:p>
          <a:p>
            <a:pPr algn="ctr"/>
            <a:endParaRPr lang="nb-NO" sz="10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4" name="Picture 43">
            <a:extLst>
              <a:ext uri="{FF2B5EF4-FFF2-40B4-BE49-F238E27FC236}">
                <a16:creationId xmlns:a16="http://schemas.microsoft.com/office/drawing/2014/main" id="{FD83ECA7-BF7D-5522-A58B-6C979F7CF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3017"/>
            <a:ext cx="1403350" cy="449071"/>
          </a:xfrm>
          <a:prstGeom prst="rect">
            <a:avLst/>
          </a:prstGeom>
        </p:spPr>
      </p:pic>
      <p:pic>
        <p:nvPicPr>
          <p:cNvPr id="46" name="Picture 45" descr="NORCE - Euro-MIC">
            <a:extLst>
              <a:ext uri="{FF2B5EF4-FFF2-40B4-BE49-F238E27FC236}">
                <a16:creationId xmlns:a16="http://schemas.microsoft.com/office/drawing/2014/main" id="{475D926E-6B81-B3D5-7BC7-3771F1297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1836" y="594615"/>
            <a:ext cx="915227" cy="332485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8B9C3A2A-12FF-4BF6-62E4-892F6DC47D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42929"/>
            <a:ext cx="1403350" cy="449071"/>
          </a:xfrm>
          <a:prstGeom prst="rect">
            <a:avLst/>
          </a:prstGeom>
        </p:spPr>
      </p:pic>
      <p:pic>
        <p:nvPicPr>
          <p:cNvPr id="50" name="Picture 49" descr="NORCE - Euro-MIC">
            <a:extLst>
              <a:ext uri="{FF2B5EF4-FFF2-40B4-BE49-F238E27FC236}">
                <a16:creationId xmlns:a16="http://schemas.microsoft.com/office/drawing/2014/main" id="{9CC65CAC-D053-99C9-8F3A-CD125690A4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4146" y="11792843"/>
            <a:ext cx="915227" cy="332485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76DE71B7-28D1-0594-EDFB-10E7143F06A3}"/>
              </a:ext>
            </a:extLst>
          </p:cNvPr>
          <p:cNvSpPr txBox="1"/>
          <p:nvPr/>
        </p:nvSpPr>
        <p:spPr>
          <a:xfrm>
            <a:off x="133350" y="1498601"/>
            <a:ext cx="19304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scientific problems involve complex simulators where the likelihood 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p(x|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unavailable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E.g., climate models, geological subsurface, astrophysics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SBI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allows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inferring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parameters from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simulated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evaluating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likelihood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uncertainty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quantification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decision-making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18321BA-19D0-C5B4-EAFE-2D5F345FB770}"/>
              </a:ext>
            </a:extLst>
          </p:cNvPr>
          <p:cNvSpPr/>
          <p:nvPr/>
        </p:nvSpPr>
        <p:spPr>
          <a:xfrm>
            <a:off x="2190749" y="1633539"/>
            <a:ext cx="866776" cy="361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Parameter </a:t>
            </a:r>
            <a:r>
              <a:rPr lang="az-Cyrl-AZ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endParaRPr lang="nb-NO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F1EAE875-23B8-DCE1-D12D-6DCF7CA1CC78}"/>
              </a:ext>
            </a:extLst>
          </p:cNvPr>
          <p:cNvSpPr/>
          <p:nvPr/>
        </p:nvSpPr>
        <p:spPr>
          <a:xfrm>
            <a:off x="3148011" y="1628776"/>
            <a:ext cx="866776" cy="361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Simulator </a:t>
            </a: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S(</a:t>
            </a:r>
            <a:r>
              <a:rPr lang="az-Cyrl-AZ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nb-NO" sz="7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938C6EC0-92AC-88AF-4619-A21C27B39A2B}"/>
              </a:ext>
            </a:extLst>
          </p:cNvPr>
          <p:cNvSpPr/>
          <p:nvPr/>
        </p:nvSpPr>
        <p:spPr>
          <a:xfrm>
            <a:off x="4100511" y="1628776"/>
            <a:ext cx="866776" cy="3619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Simulated data </a:t>
            </a:r>
            <a:r>
              <a:rPr lang="en-US" sz="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nb-NO" sz="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B5FE7D94-6DE8-6979-E1A7-DA406584B8B1}"/>
              </a:ext>
            </a:extLst>
          </p:cNvPr>
          <p:cNvCxnSpPr/>
          <p:nvPr/>
        </p:nvCxnSpPr>
        <p:spPr>
          <a:xfrm>
            <a:off x="2995613" y="1814513"/>
            <a:ext cx="25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F86E05DB-F77A-4A2B-E5EF-DCEA678F4DDB}"/>
              </a:ext>
            </a:extLst>
          </p:cNvPr>
          <p:cNvCxnSpPr/>
          <p:nvPr/>
        </p:nvCxnSpPr>
        <p:spPr>
          <a:xfrm>
            <a:off x="3948113" y="1814513"/>
            <a:ext cx="2571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AFA135E3-A94D-6469-B6B9-C6CDB922349A}"/>
              </a:ext>
            </a:extLst>
          </p:cNvPr>
          <p:cNvSpPr txBox="1"/>
          <p:nvPr/>
        </p:nvSpPr>
        <p:spPr>
          <a:xfrm>
            <a:off x="2143118" y="2228849"/>
            <a:ext cx="293847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observed data </a:t>
            </a:r>
            <a:r>
              <a:rPr lang="en-US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want to infer the posterior distribution over the parameters:</a:t>
            </a:r>
          </a:p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lang="az-Cyrl-AZ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0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en-US" sz="1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nb-NO" sz="1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simulations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nb-NO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evaluating</a:t>
            </a:r>
            <a:r>
              <a:rPr lang="nb-NO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p(x|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nb-NO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5BBDEC41-12DB-6280-A57C-6FDE59473F02}"/>
              </a:ext>
            </a:extLst>
          </p:cNvPr>
          <p:cNvSpPr/>
          <p:nvPr/>
        </p:nvSpPr>
        <p:spPr>
          <a:xfrm>
            <a:off x="252414" y="4371975"/>
            <a:ext cx="990600" cy="135255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9" name="Rectangle: Rounded Corners 68">
            <a:extLst>
              <a:ext uri="{FF2B5EF4-FFF2-40B4-BE49-F238E27FC236}">
                <a16:creationId xmlns:a16="http://schemas.microsoft.com/office/drawing/2014/main" id="{416169F5-8781-6CED-4384-A08A2668A72E}"/>
              </a:ext>
            </a:extLst>
          </p:cNvPr>
          <p:cNvSpPr/>
          <p:nvPr/>
        </p:nvSpPr>
        <p:spPr>
          <a:xfrm>
            <a:off x="1681162" y="4386264"/>
            <a:ext cx="966787" cy="13382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B128D0B5-7C0B-EDD2-1C99-E3E95BF06BD4}"/>
              </a:ext>
            </a:extLst>
          </p:cNvPr>
          <p:cNvSpPr/>
          <p:nvPr/>
        </p:nvSpPr>
        <p:spPr>
          <a:xfrm>
            <a:off x="3090863" y="4371975"/>
            <a:ext cx="1743075" cy="1362075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6B11D8DA-24D7-88C9-B88D-BDB98609B6FC}"/>
              </a:ext>
            </a:extLst>
          </p:cNvPr>
          <p:cNvSpPr/>
          <p:nvPr/>
        </p:nvSpPr>
        <p:spPr>
          <a:xfrm>
            <a:off x="5295901" y="4400550"/>
            <a:ext cx="1119187" cy="1328738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FD92D8F-5FC3-271E-D5E6-4D28C59EF7D1}"/>
              </a:ext>
            </a:extLst>
          </p:cNvPr>
          <p:cNvSpPr txBox="1"/>
          <p:nvPr/>
        </p:nvSpPr>
        <p:spPr>
          <a:xfrm>
            <a:off x="347663" y="4410076"/>
            <a:ext cx="7667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Prior</a:t>
            </a:r>
          </a:p>
          <a:p>
            <a:pPr algn="ctr"/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nb-NO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p (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2E15FC9-2F36-7134-978D-40729DAE6E12}"/>
              </a:ext>
            </a:extLst>
          </p:cNvPr>
          <p:cNvSpPr txBox="1"/>
          <p:nvPr/>
        </p:nvSpPr>
        <p:spPr>
          <a:xfrm>
            <a:off x="1714500" y="4414837"/>
            <a:ext cx="862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Simulate</a:t>
            </a:r>
            <a:b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 ~ S(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4269E8-D946-2AEC-0D02-4D24C1ADBBCD}"/>
              </a:ext>
            </a:extLst>
          </p:cNvPr>
          <p:cNvSpPr txBox="1"/>
          <p:nvPr/>
        </p:nvSpPr>
        <p:spPr>
          <a:xfrm>
            <a:off x="3119437" y="4414838"/>
            <a:ext cx="1704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Train Neural Network (</a:t>
            </a:r>
            <a:r>
              <a:rPr lang="en-US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BayesFlow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ctr"/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Learning Mapping</a:t>
            </a:r>
            <a:b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x)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1DBDAE-81E2-C2D1-C268-791B2A754483}"/>
              </a:ext>
            </a:extLst>
          </p:cNvPr>
          <p:cNvSpPr txBox="1"/>
          <p:nvPr/>
        </p:nvSpPr>
        <p:spPr>
          <a:xfrm>
            <a:off x="5319713" y="4448176"/>
            <a:ext cx="862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Posterior</a:t>
            </a:r>
            <a:b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p(</a:t>
            </a:r>
            <a:r>
              <a:rPr lang="az-Cyrl-AZ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ө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 </a:t>
            </a:r>
            <a:r>
              <a:rPr lang="en-US" sz="1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0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</a:t>
            </a:r>
            <a:r>
              <a:rPr lang="en-US" sz="1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nb-NO" sz="1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F044742F-644D-0BEF-7144-1AA7C0C5836F}"/>
              </a:ext>
            </a:extLst>
          </p:cNvPr>
          <p:cNvCxnSpPr/>
          <p:nvPr/>
        </p:nvCxnSpPr>
        <p:spPr>
          <a:xfrm>
            <a:off x="1314450" y="4857750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E1962FA-F1D8-6CC7-5B6C-4BA3F08882C2}"/>
              </a:ext>
            </a:extLst>
          </p:cNvPr>
          <p:cNvCxnSpPr/>
          <p:nvPr/>
        </p:nvCxnSpPr>
        <p:spPr>
          <a:xfrm>
            <a:off x="2695575" y="4886325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84E4F55D-0F29-985D-56EB-00D47A6F7CF2}"/>
              </a:ext>
            </a:extLst>
          </p:cNvPr>
          <p:cNvCxnSpPr/>
          <p:nvPr/>
        </p:nvCxnSpPr>
        <p:spPr>
          <a:xfrm>
            <a:off x="4929187" y="4895850"/>
            <a:ext cx="2762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0" name="Picture 89">
            <a:extLst>
              <a:ext uri="{FF2B5EF4-FFF2-40B4-BE49-F238E27FC236}">
                <a16:creationId xmlns:a16="http://schemas.microsoft.com/office/drawing/2014/main" id="{7353113C-3948-F8E8-A91A-3746950824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01" y="4867274"/>
            <a:ext cx="528823" cy="772459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AB7E9391-E2E7-7BD1-21B6-EFAD248589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5403" y="4900555"/>
            <a:ext cx="709509" cy="685858"/>
          </a:xfrm>
          <a:prstGeom prst="rect">
            <a:avLst/>
          </a:prstGeom>
        </p:spPr>
      </p:pic>
      <p:pic>
        <p:nvPicPr>
          <p:cNvPr id="94" name="Picture 93">
            <a:extLst>
              <a:ext uri="{FF2B5EF4-FFF2-40B4-BE49-F238E27FC236}">
                <a16:creationId xmlns:a16="http://schemas.microsoft.com/office/drawing/2014/main" id="{40589412-F055-F4D4-099C-9B8BD34C76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0213" y="5095875"/>
            <a:ext cx="675145" cy="600128"/>
          </a:xfrm>
          <a:prstGeom prst="rect">
            <a:avLst/>
          </a:prstGeom>
        </p:spPr>
      </p:pic>
      <p:pic>
        <p:nvPicPr>
          <p:cNvPr id="96" name="Picture 95">
            <a:extLst>
              <a:ext uri="{FF2B5EF4-FFF2-40B4-BE49-F238E27FC236}">
                <a16:creationId xmlns:a16="http://schemas.microsoft.com/office/drawing/2014/main" id="{AEB6AA9F-300E-502A-8BE0-9856041314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29262" y="5010599"/>
            <a:ext cx="681093" cy="633016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260CDEDF-6AE4-C299-EFD2-00828C3B2EC8}"/>
              </a:ext>
            </a:extLst>
          </p:cNvPr>
          <p:cNvSpPr txBox="1"/>
          <p:nvPr/>
        </p:nvSpPr>
        <p:spPr>
          <a:xfrm>
            <a:off x="80962" y="6272213"/>
            <a:ext cx="239553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1: Linear Regression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regression model with simulator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Compared conventional Bayesian inference with amortized inference (BF)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inferred posteriors matches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Demonstrate how amortized neural networks can learn to perform Bayesian Inference and then be reused efficiently for new observations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B6F0F8F-FAB8-CAC3-9ECF-B0C894DC0D03}"/>
              </a:ext>
            </a:extLst>
          </p:cNvPr>
          <p:cNvSpPr txBox="1"/>
          <p:nvPr/>
        </p:nvSpPr>
        <p:spPr>
          <a:xfrm>
            <a:off x="159201" y="8663442"/>
            <a:ext cx="31650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whether the inferred posteriors are well calibrated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multiple simulations, infer posteriors, and evaluate rank statistics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calibrated method gives a uniform distribution</a:t>
            </a:r>
          </a:p>
          <a:p>
            <a:pPr algn="ctr"/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Rank Histograms</a:t>
            </a:r>
          </a:p>
        </p:txBody>
      </p:sp>
      <p:pic>
        <p:nvPicPr>
          <p:cNvPr id="101" name="Picture 100">
            <a:extLst>
              <a:ext uri="{FF2B5EF4-FFF2-40B4-BE49-F238E27FC236}">
                <a16:creationId xmlns:a16="http://schemas.microsoft.com/office/drawing/2014/main" id="{AD6906BA-27E0-B39A-0A9B-3FF1F7BE47A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76" y="10006013"/>
            <a:ext cx="2545763" cy="1422853"/>
          </a:xfrm>
          <a:prstGeom prst="rect">
            <a:avLst/>
          </a:prstGeom>
        </p:spPr>
      </p:pic>
      <p:sp>
        <p:nvSpPr>
          <p:cNvPr id="103" name="TextBox 102">
            <a:extLst>
              <a:ext uri="{FF2B5EF4-FFF2-40B4-BE49-F238E27FC236}">
                <a16:creationId xmlns:a16="http://schemas.microsoft.com/office/drawing/2014/main" id="{A70944E7-8C80-8200-A240-EE7C818E23A9}"/>
              </a:ext>
            </a:extLst>
          </p:cNvPr>
          <p:cNvSpPr txBox="1"/>
          <p:nvPr/>
        </p:nvSpPr>
        <p:spPr>
          <a:xfrm>
            <a:off x="3631063" y="8701542"/>
            <a:ext cx="3165023" cy="1721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Diffusion Models can learn flexible posterior distributions for complex simulators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allows conditioning on additional information or constraints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for high-dimensional and multi-modal posteriors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D0B041-B4EB-DBDC-5F7D-4C1EE22D84A6}"/>
              </a:ext>
            </a:extLst>
          </p:cNvPr>
          <p:cNvSpPr txBox="1"/>
          <p:nvPr/>
        </p:nvSpPr>
        <p:spPr>
          <a:xfrm>
            <a:off x="2470150" y="6272213"/>
            <a:ext cx="23495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2: </a:t>
            </a:r>
            <a:r>
              <a:rPr lang="nb-NO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Susceptible, </a:t>
            </a:r>
            <a:r>
              <a:rPr lang="nb-NO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Infected</a:t>
            </a:r>
            <a:r>
              <a:rPr lang="nb-NO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nb-NO" sz="1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Recovered</a:t>
            </a:r>
            <a:r>
              <a:rPr lang="nb-NO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Diagnostics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complex simulator from system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informative statistics using GRU network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Infer posteriors distribution for multiple parameters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inference quality: Rank histogram, coverage, posterior predictive checks etc.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7AF0AD-6BC2-BCCA-88C2-D66EF2C19411}"/>
              </a:ext>
            </a:extLst>
          </p:cNvPr>
          <p:cNvSpPr txBox="1"/>
          <p:nvPr/>
        </p:nvSpPr>
        <p:spPr>
          <a:xfrm>
            <a:off x="4703762" y="6259513"/>
            <a:ext cx="2090737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 3: Diffusion Guidance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DM can be used as neural posteriors estimators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complex posteriors effectively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Guidance allows conditioning on additional information during sampling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how diffusion-based posterior inference can improve performance in SBI</a:t>
            </a:r>
            <a:endParaRPr lang="nb-NO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0FE40E9-2F11-799A-C1DD-546D76B42B55}"/>
              </a:ext>
            </a:extLst>
          </p:cNvPr>
          <p:cNvCxnSpPr/>
          <p:nvPr/>
        </p:nvCxnSpPr>
        <p:spPr>
          <a:xfrm>
            <a:off x="2482850" y="6413500"/>
            <a:ext cx="0" cy="140335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6030F51-83B5-54F8-BE6E-110CAB599491}"/>
              </a:ext>
            </a:extLst>
          </p:cNvPr>
          <p:cNvCxnSpPr/>
          <p:nvPr/>
        </p:nvCxnSpPr>
        <p:spPr>
          <a:xfrm>
            <a:off x="4679950" y="6407150"/>
            <a:ext cx="0" cy="1403350"/>
          </a:xfrm>
          <a:prstGeom prst="line">
            <a:avLst/>
          </a:prstGeom>
          <a:ln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468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166</TotalTime>
  <Words>420</Words>
  <Application>Microsoft Office PowerPoint</Application>
  <PresentationFormat>Widescreen</PresentationFormat>
  <Paragraphs>58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Heebah Saleem</dc:creator>
  <cp:lastModifiedBy>Heebah Saleem</cp:lastModifiedBy>
  <cp:revision>1</cp:revision>
  <dcterms:created xsi:type="dcterms:W3CDTF">2026-09-24T09:10:34Z</dcterms:created>
  <dcterms:modified xsi:type="dcterms:W3CDTF">2026-09-24T13:03:58Z</dcterms:modified>
</cp:coreProperties>
</file>